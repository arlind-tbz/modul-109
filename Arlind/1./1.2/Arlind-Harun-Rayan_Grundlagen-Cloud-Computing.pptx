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de-DE"/>
              <a:t>Mastertitelformat bearbeiten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2464037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3810966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413131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F810E151-6F6D-4F1C-BD25-D124C6060597}" type="datetimeFigureOut">
              <a:rPr lang="de-CH" smtClean="0"/>
              <a:t>17.05.2023</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4279939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a:t>Mastertitelformat bearbeiten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F810E151-6F6D-4F1C-BD25-D124C6060597}" type="datetimeFigureOut">
              <a:rPr lang="de-CH" smtClean="0"/>
              <a:t>17.05.2023</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2852072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7" name="Date Placeholder 2"/>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3"/>
          <p:cNvSpPr>
            <a:spLocks noGrp="1"/>
          </p:cNvSpPr>
          <p:nvPr>
            <p:ph type="ftr" sz="quarter" idx="11"/>
          </p:nvPr>
        </p:nvSpPr>
        <p:spPr/>
        <p:txBody>
          <a:bodyPr/>
          <a:lstStyle/>
          <a:p>
            <a:endParaRPr lang="de-CH"/>
          </a:p>
        </p:txBody>
      </p:sp>
      <p:sp>
        <p:nvSpPr>
          <p:cNvPr id="6" name="Slide Number Placeholder 4"/>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2131719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2"/>
          <p:cNvSpPr>
            <a:spLocks noGrp="1"/>
          </p:cNvSpPr>
          <p:nvPr>
            <p:ph type="ftr" sz="quarter" idx="11"/>
          </p:nvPr>
        </p:nvSpPr>
        <p:spPr/>
        <p:txBody>
          <a:bodyPr/>
          <a:lstStyle/>
          <a:p>
            <a:endParaRPr lang="de-CH"/>
          </a:p>
        </p:txBody>
      </p:sp>
      <p:sp>
        <p:nvSpPr>
          <p:cNvPr id="6" name="Slide Number Placeholder 3"/>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943791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de-DE"/>
              <a:t>Mastertitelformat bearbeiten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7" name="Date Placeholder 4"/>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5"/>
          <p:cNvSpPr>
            <a:spLocks noGrp="1"/>
          </p:cNvSpPr>
          <p:nvPr>
            <p:ph type="ftr" sz="quarter" idx="11"/>
          </p:nvPr>
        </p:nvSpPr>
        <p:spPr/>
        <p:txBody>
          <a:bodyPr/>
          <a:lstStyle/>
          <a:p>
            <a:endParaRPr lang="de-CH"/>
          </a:p>
        </p:txBody>
      </p:sp>
      <p:sp>
        <p:nvSpPr>
          <p:cNvPr id="6" name="Slide Number Placeholder 6"/>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2089483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de-DE"/>
              <a:t>Mastertitelformat bearbeiten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F810E151-6F6D-4F1C-BD25-D124C6060597}" type="datetimeFigureOut">
              <a:rPr lang="de-CH" smtClean="0"/>
              <a:t>17.05.2023</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3039037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de-DE"/>
              <a:t>Mastertitelformat bearbeiten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F810E151-6F6D-4F1C-BD25-D124C6060597}" type="datetimeFigureOut">
              <a:rPr lang="de-CH" smtClean="0"/>
              <a:t>17.05.2023</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349155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de-DE"/>
              <a:t>Mastertitelformat bearbeiten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4257432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de-DE"/>
              <a:t>Mastertitelformat bearbeiten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de-DE"/>
              <a:t>Mastertextformat bearbeiten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6593835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2796116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p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de-DE"/>
              <a:t>Mastertitelformat bearbeiten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4"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16423329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Bildsp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de-DE"/>
              <a:t>Mastertitelformat bearbeiten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4"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3793314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nchor="t" anchorCtr="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2555653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de-DE"/>
              <a:t>Mastertitelformat bearbeiten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810E151-6F6D-4F1C-BD25-D124C6060597}" type="datetimeFigureOut">
              <a:rPr lang="de-CH" smtClean="0"/>
              <a:t>17.05.2023</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1F02BE8-0DD2-49B1-8EB2-F6611E69F3FB}" type="slidenum">
              <a:rPr lang="de-CH" smtClean="0"/>
              <a:t>‹Nr.›</a:t>
            </a:fld>
            <a:endParaRPr lang="de-CH"/>
          </a:p>
        </p:txBody>
      </p:sp>
    </p:spTree>
    <p:extLst>
      <p:ext uri="{BB962C8B-B14F-4D97-AF65-F5344CB8AC3E}">
        <p14:creationId xmlns:p14="http://schemas.microsoft.com/office/powerpoint/2010/main" val="168952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de-DE"/>
              <a:t>Mastertitelformat bearbeiten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810E151-6F6D-4F1C-BD25-D124C6060597}" type="datetimeFigureOut">
              <a:rPr lang="de-CH" smtClean="0"/>
              <a:t>17.05.2023</a:t>
            </a:fld>
            <a:endParaRPr lang="de-CH"/>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de-CH"/>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1F02BE8-0DD2-49B1-8EB2-F6611E69F3FB}" type="slidenum">
              <a:rPr lang="de-CH" smtClean="0"/>
              <a:t>‹Nr.›</a:t>
            </a:fld>
            <a:endParaRPr lang="de-CH"/>
          </a:p>
        </p:txBody>
      </p:sp>
    </p:spTree>
    <p:extLst>
      <p:ext uri="{BB962C8B-B14F-4D97-AF65-F5344CB8AC3E}">
        <p14:creationId xmlns:p14="http://schemas.microsoft.com/office/powerpoint/2010/main" val="322184547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FCCA86-4ABE-44FE-95A4-B838B2FAEDE9}"/>
              </a:ext>
            </a:extLst>
          </p:cNvPr>
          <p:cNvSpPr>
            <a:spLocks noGrp="1"/>
          </p:cNvSpPr>
          <p:nvPr>
            <p:ph type="ctrTitle"/>
          </p:nvPr>
        </p:nvSpPr>
        <p:spPr/>
        <p:txBody>
          <a:bodyPr/>
          <a:lstStyle/>
          <a:p>
            <a:r>
              <a:rPr lang="de-CH" b="1" dirty="0"/>
              <a:t>Grundlagen </a:t>
            </a:r>
            <a:br>
              <a:rPr lang="de-CH" b="1" dirty="0"/>
            </a:br>
            <a:r>
              <a:rPr lang="de-CH" b="1" dirty="0"/>
              <a:t>Cloud-Computing</a:t>
            </a:r>
            <a:endParaRPr lang="de-CH" dirty="0"/>
          </a:p>
        </p:txBody>
      </p:sp>
      <p:sp>
        <p:nvSpPr>
          <p:cNvPr id="3" name="Untertitel 2">
            <a:extLst>
              <a:ext uri="{FF2B5EF4-FFF2-40B4-BE49-F238E27FC236}">
                <a16:creationId xmlns:a16="http://schemas.microsoft.com/office/drawing/2014/main" id="{1CC99CAF-56E3-4BE6-981D-245E8A4450C4}"/>
              </a:ext>
            </a:extLst>
          </p:cNvPr>
          <p:cNvSpPr>
            <a:spLocks noGrp="1"/>
          </p:cNvSpPr>
          <p:nvPr>
            <p:ph type="subTitle" idx="1"/>
          </p:nvPr>
        </p:nvSpPr>
        <p:spPr/>
        <p:txBody>
          <a:bodyPr/>
          <a:lstStyle/>
          <a:p>
            <a:r>
              <a:rPr lang="en-US" dirty="0"/>
              <a:t>Arlind, Harun, Rayan</a:t>
            </a:r>
            <a:endParaRPr lang="de-CH" dirty="0"/>
          </a:p>
        </p:txBody>
      </p:sp>
    </p:spTree>
    <p:extLst>
      <p:ext uri="{BB962C8B-B14F-4D97-AF65-F5344CB8AC3E}">
        <p14:creationId xmlns:p14="http://schemas.microsoft.com/office/powerpoint/2010/main" val="2286747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0CF41C-BE8A-413C-A356-B2A1791CF92A}"/>
              </a:ext>
            </a:extLst>
          </p:cNvPr>
          <p:cNvSpPr>
            <a:spLocks noGrp="1"/>
          </p:cNvSpPr>
          <p:nvPr>
            <p:ph type="title"/>
          </p:nvPr>
        </p:nvSpPr>
        <p:spPr/>
        <p:txBody>
          <a:bodyPr/>
          <a:lstStyle/>
          <a:p>
            <a:r>
              <a:rPr lang="de-DE" altLang="de-DE" dirty="0"/>
              <a:t>Wie ist der Begriff Cloud entstanden? Wieso </a:t>
            </a:r>
            <a:r>
              <a:rPr lang="de-DE" altLang="de-DE" dirty="0" err="1"/>
              <a:t>heisst</a:t>
            </a:r>
            <a:r>
              <a:rPr lang="de-DE" altLang="de-DE" dirty="0"/>
              <a:t> es Cloud?</a:t>
            </a:r>
            <a:endParaRPr lang="de-CH" dirty="0"/>
          </a:p>
        </p:txBody>
      </p:sp>
      <p:sp>
        <p:nvSpPr>
          <p:cNvPr id="4" name="Rectangle 1">
            <a:extLst>
              <a:ext uri="{FF2B5EF4-FFF2-40B4-BE49-F238E27FC236}">
                <a16:creationId xmlns:a16="http://schemas.microsoft.com/office/drawing/2014/main" id="{790EC014-2647-4C7B-94B7-6E63D11B02A6}"/>
              </a:ext>
            </a:extLst>
          </p:cNvPr>
          <p:cNvSpPr>
            <a:spLocks noGrp="1" noChangeArrowheads="1"/>
          </p:cNvSpPr>
          <p:nvPr>
            <p:ph idx="1"/>
          </p:nvPr>
        </p:nvSpPr>
        <p:spPr bwMode="auto">
          <a:xfrm>
            <a:off x="511679" y="2921169"/>
            <a:ext cx="1116864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de-CH" altLang="de-DE" dirty="0"/>
              <a:t>Die Cloud wird „die Cloud“ genannt, weil sie die Nutzung eines Netzwerks von Remote-Servern zum Speichern, Verwalten und Verarbeiten von Daten beinhaltet, anstatt alles auf einem lokalen Server oder PC zu erledigen.</a:t>
            </a:r>
            <a:endParaRPr lang="de-DE" altLang="de-DE" dirty="0"/>
          </a:p>
        </p:txBody>
      </p:sp>
    </p:spTree>
    <p:extLst>
      <p:ext uri="{BB962C8B-B14F-4D97-AF65-F5344CB8AC3E}">
        <p14:creationId xmlns:p14="http://schemas.microsoft.com/office/powerpoint/2010/main" val="3230989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612E80-7F77-440C-8373-01B929160CA3}"/>
              </a:ext>
            </a:extLst>
          </p:cNvPr>
          <p:cNvSpPr>
            <a:spLocks noGrp="1"/>
          </p:cNvSpPr>
          <p:nvPr>
            <p:ph type="title"/>
          </p:nvPr>
        </p:nvSpPr>
        <p:spPr/>
        <p:txBody>
          <a:bodyPr/>
          <a:lstStyle/>
          <a:p>
            <a:r>
              <a:rPr lang="de-CH" dirty="0"/>
              <a:t>Wie wird der Begriff Cloud definiert, z.B. gemäss NIST?</a:t>
            </a:r>
          </a:p>
        </p:txBody>
      </p:sp>
      <p:sp>
        <p:nvSpPr>
          <p:cNvPr id="3" name="Inhaltsplatzhalter 2">
            <a:extLst>
              <a:ext uri="{FF2B5EF4-FFF2-40B4-BE49-F238E27FC236}">
                <a16:creationId xmlns:a16="http://schemas.microsoft.com/office/drawing/2014/main" id="{A857F0EA-34A9-4452-85BC-6F9C1488F423}"/>
              </a:ext>
            </a:extLst>
          </p:cNvPr>
          <p:cNvSpPr>
            <a:spLocks noGrp="1"/>
          </p:cNvSpPr>
          <p:nvPr>
            <p:ph idx="1"/>
          </p:nvPr>
        </p:nvSpPr>
        <p:spPr/>
        <p:txBody>
          <a:bodyPr/>
          <a:lstStyle/>
          <a:p>
            <a:pPr marL="0" indent="0">
              <a:buNone/>
            </a:pPr>
            <a:r>
              <a:rPr lang="de-CH" dirty="0"/>
              <a:t>Cloud Computing ist ein bequemes und flexibles Modell, bei dem man über ein Netzwerk auf geteilte Computerressourcen zugreifen kann. Diese Ressourcen wie Server, Speicher und Anwendungen werden vom Anbieter bereitgestellt, ohne dass man sich darum kümmern muss.</a:t>
            </a:r>
          </a:p>
          <a:p>
            <a:pPr marL="0" indent="0">
              <a:buNone/>
            </a:pPr>
            <a:endParaRPr lang="de-CH" dirty="0"/>
          </a:p>
        </p:txBody>
      </p:sp>
    </p:spTree>
    <p:extLst>
      <p:ext uri="{BB962C8B-B14F-4D97-AF65-F5344CB8AC3E}">
        <p14:creationId xmlns:p14="http://schemas.microsoft.com/office/powerpoint/2010/main" val="3646208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623988-DF40-45B3-87D2-C8E5666E1597}"/>
              </a:ext>
            </a:extLst>
          </p:cNvPr>
          <p:cNvSpPr>
            <a:spLocks noGrp="1"/>
          </p:cNvSpPr>
          <p:nvPr>
            <p:ph type="title"/>
          </p:nvPr>
        </p:nvSpPr>
        <p:spPr/>
        <p:txBody>
          <a:bodyPr/>
          <a:lstStyle/>
          <a:p>
            <a:r>
              <a:rPr lang="de-CH" dirty="0"/>
              <a:t>Welches sind die 5 Merkmale einer Cloud?</a:t>
            </a:r>
          </a:p>
        </p:txBody>
      </p:sp>
      <p:sp>
        <p:nvSpPr>
          <p:cNvPr id="3" name="Inhaltsplatzhalter 2">
            <a:extLst>
              <a:ext uri="{FF2B5EF4-FFF2-40B4-BE49-F238E27FC236}">
                <a16:creationId xmlns:a16="http://schemas.microsoft.com/office/drawing/2014/main" id="{BF55C461-6851-4C7C-B2F4-FDF6D8F529EE}"/>
              </a:ext>
            </a:extLst>
          </p:cNvPr>
          <p:cNvSpPr>
            <a:spLocks noGrp="1"/>
          </p:cNvSpPr>
          <p:nvPr>
            <p:ph idx="1"/>
          </p:nvPr>
        </p:nvSpPr>
        <p:spPr/>
        <p:txBody>
          <a:bodyPr/>
          <a:lstStyle/>
          <a:p>
            <a:r>
              <a:rPr lang="de-CH" dirty="0"/>
              <a:t>On-</a:t>
            </a:r>
            <a:r>
              <a:rPr lang="de-CH" dirty="0" err="1"/>
              <a:t>demand</a:t>
            </a:r>
            <a:r>
              <a:rPr lang="de-CH" dirty="0"/>
              <a:t> </a:t>
            </a:r>
            <a:r>
              <a:rPr lang="de-CH" dirty="0" err="1"/>
              <a:t>self</a:t>
            </a:r>
            <a:r>
              <a:rPr lang="de-CH" dirty="0"/>
              <a:t>-service</a:t>
            </a:r>
          </a:p>
          <a:p>
            <a:r>
              <a:rPr lang="de-CH" dirty="0"/>
              <a:t>Broad network </a:t>
            </a:r>
            <a:r>
              <a:rPr lang="de-CH" dirty="0" err="1"/>
              <a:t>access</a:t>
            </a:r>
            <a:endParaRPr lang="de-CH" dirty="0"/>
          </a:p>
          <a:p>
            <a:r>
              <a:rPr lang="de-CH" dirty="0" err="1"/>
              <a:t>Resource</a:t>
            </a:r>
            <a:r>
              <a:rPr lang="de-CH" dirty="0"/>
              <a:t> </a:t>
            </a:r>
            <a:r>
              <a:rPr lang="de-CH" dirty="0" err="1"/>
              <a:t>pooling</a:t>
            </a:r>
            <a:endParaRPr lang="de-CH" dirty="0"/>
          </a:p>
          <a:p>
            <a:r>
              <a:rPr lang="de-CH" dirty="0"/>
              <a:t>Rapid </a:t>
            </a:r>
            <a:r>
              <a:rPr lang="de-CH" dirty="0" err="1"/>
              <a:t>elasticity</a:t>
            </a:r>
            <a:endParaRPr lang="de-CH" dirty="0"/>
          </a:p>
          <a:p>
            <a:r>
              <a:rPr lang="de-CH" dirty="0" err="1"/>
              <a:t>Measured</a:t>
            </a:r>
            <a:r>
              <a:rPr lang="de-CH" dirty="0"/>
              <a:t> </a:t>
            </a:r>
            <a:r>
              <a:rPr lang="de-CH" dirty="0" err="1"/>
              <a:t>service</a:t>
            </a:r>
            <a:endParaRPr lang="de-CH" dirty="0"/>
          </a:p>
        </p:txBody>
      </p:sp>
    </p:spTree>
    <p:extLst>
      <p:ext uri="{BB962C8B-B14F-4D97-AF65-F5344CB8AC3E}">
        <p14:creationId xmlns:p14="http://schemas.microsoft.com/office/powerpoint/2010/main" val="421416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21DAD6-68EB-44AE-B352-70BBF409314F}"/>
              </a:ext>
            </a:extLst>
          </p:cNvPr>
          <p:cNvSpPr>
            <a:spLocks noGrp="1"/>
          </p:cNvSpPr>
          <p:nvPr>
            <p:ph type="title"/>
          </p:nvPr>
        </p:nvSpPr>
        <p:spPr/>
        <p:txBody>
          <a:bodyPr/>
          <a:lstStyle/>
          <a:p>
            <a:r>
              <a:rPr lang="de-CH" dirty="0"/>
              <a:t>Welche Cloud Dienstleistungen kennen Sie?</a:t>
            </a:r>
          </a:p>
        </p:txBody>
      </p:sp>
      <p:sp>
        <p:nvSpPr>
          <p:cNvPr id="3" name="Inhaltsplatzhalter 2">
            <a:extLst>
              <a:ext uri="{FF2B5EF4-FFF2-40B4-BE49-F238E27FC236}">
                <a16:creationId xmlns:a16="http://schemas.microsoft.com/office/drawing/2014/main" id="{F0190BC6-F31A-408D-AB0A-6450CEBB88C1}"/>
              </a:ext>
            </a:extLst>
          </p:cNvPr>
          <p:cNvSpPr>
            <a:spLocks noGrp="1"/>
          </p:cNvSpPr>
          <p:nvPr>
            <p:ph idx="1"/>
          </p:nvPr>
        </p:nvSpPr>
        <p:spPr/>
        <p:txBody>
          <a:bodyPr/>
          <a:lstStyle/>
          <a:p>
            <a:r>
              <a:rPr lang="en-US" dirty="0"/>
              <a:t>AD</a:t>
            </a:r>
          </a:p>
          <a:p>
            <a:r>
              <a:rPr lang="en-US" dirty="0"/>
              <a:t>VPN</a:t>
            </a:r>
          </a:p>
          <a:p>
            <a:r>
              <a:rPr lang="en-US" dirty="0"/>
              <a:t>BAAS</a:t>
            </a:r>
          </a:p>
          <a:p>
            <a:r>
              <a:rPr lang="en-US" dirty="0"/>
              <a:t>DRAAS</a:t>
            </a:r>
          </a:p>
          <a:p>
            <a:r>
              <a:rPr lang="en-US" dirty="0"/>
              <a:t>Container Deployment</a:t>
            </a:r>
          </a:p>
          <a:p>
            <a:r>
              <a:rPr lang="en-US" dirty="0" err="1"/>
              <a:t>Virtualisierung</a:t>
            </a:r>
            <a:endParaRPr lang="en-US" dirty="0"/>
          </a:p>
          <a:p>
            <a:endParaRPr lang="de-CH" dirty="0"/>
          </a:p>
        </p:txBody>
      </p:sp>
    </p:spTree>
    <p:extLst>
      <p:ext uri="{BB962C8B-B14F-4D97-AF65-F5344CB8AC3E}">
        <p14:creationId xmlns:p14="http://schemas.microsoft.com/office/powerpoint/2010/main" val="3030769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FB58AD-8C3F-407F-8877-79A38B119666}"/>
              </a:ext>
            </a:extLst>
          </p:cNvPr>
          <p:cNvSpPr>
            <a:spLocks noGrp="1"/>
          </p:cNvSpPr>
          <p:nvPr>
            <p:ph type="title"/>
          </p:nvPr>
        </p:nvSpPr>
        <p:spPr/>
        <p:txBody>
          <a:bodyPr/>
          <a:lstStyle/>
          <a:p>
            <a:r>
              <a:rPr lang="de-CH" dirty="0"/>
              <a:t>Welche Cloud Anbieter kennen Sie?</a:t>
            </a:r>
          </a:p>
        </p:txBody>
      </p:sp>
      <p:sp>
        <p:nvSpPr>
          <p:cNvPr id="3" name="Inhaltsplatzhalter 2">
            <a:extLst>
              <a:ext uri="{FF2B5EF4-FFF2-40B4-BE49-F238E27FC236}">
                <a16:creationId xmlns:a16="http://schemas.microsoft.com/office/drawing/2014/main" id="{08716FF9-BD2F-499F-B90D-47BAC982845E}"/>
              </a:ext>
            </a:extLst>
          </p:cNvPr>
          <p:cNvSpPr>
            <a:spLocks noGrp="1"/>
          </p:cNvSpPr>
          <p:nvPr>
            <p:ph idx="1"/>
          </p:nvPr>
        </p:nvSpPr>
        <p:spPr/>
        <p:txBody>
          <a:bodyPr/>
          <a:lstStyle/>
          <a:p>
            <a:r>
              <a:rPr lang="en-US" dirty="0"/>
              <a:t>AWS</a:t>
            </a:r>
          </a:p>
          <a:p>
            <a:r>
              <a:rPr lang="en-US" dirty="0"/>
              <a:t>Azure </a:t>
            </a:r>
          </a:p>
          <a:p>
            <a:r>
              <a:rPr lang="en-US" dirty="0"/>
              <a:t>Google</a:t>
            </a:r>
          </a:p>
          <a:p>
            <a:r>
              <a:rPr lang="en-US" dirty="0"/>
              <a:t>IBM</a:t>
            </a:r>
          </a:p>
          <a:p>
            <a:r>
              <a:rPr lang="en-US" dirty="0" err="1"/>
              <a:t>Linode</a:t>
            </a:r>
            <a:endParaRPr lang="en-US" dirty="0"/>
          </a:p>
          <a:p>
            <a:r>
              <a:rPr lang="en-US" dirty="0"/>
              <a:t>Contabo</a:t>
            </a:r>
          </a:p>
          <a:p>
            <a:endParaRPr lang="en-US" dirty="0"/>
          </a:p>
        </p:txBody>
      </p:sp>
    </p:spTree>
    <p:extLst>
      <p:ext uri="{BB962C8B-B14F-4D97-AF65-F5344CB8AC3E}">
        <p14:creationId xmlns:p14="http://schemas.microsoft.com/office/powerpoint/2010/main" val="3355796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0B34CE-A858-4646-9DDB-9BBCB2EA4426}"/>
              </a:ext>
            </a:extLst>
          </p:cNvPr>
          <p:cNvSpPr>
            <a:spLocks noGrp="1"/>
          </p:cNvSpPr>
          <p:nvPr>
            <p:ph type="title"/>
          </p:nvPr>
        </p:nvSpPr>
        <p:spPr/>
        <p:txBody>
          <a:bodyPr/>
          <a:lstStyle/>
          <a:p>
            <a:r>
              <a:rPr lang="de-CH" dirty="0"/>
              <a:t>Welche Cloud </a:t>
            </a:r>
            <a:r>
              <a:rPr lang="de-CH" dirty="0" err="1"/>
              <a:t>Deployment</a:t>
            </a:r>
            <a:r>
              <a:rPr lang="de-CH" dirty="0"/>
              <a:t> Modelle kennen Sie?</a:t>
            </a:r>
          </a:p>
        </p:txBody>
      </p:sp>
      <p:sp>
        <p:nvSpPr>
          <p:cNvPr id="3" name="Inhaltsplatzhalter 2">
            <a:extLst>
              <a:ext uri="{FF2B5EF4-FFF2-40B4-BE49-F238E27FC236}">
                <a16:creationId xmlns:a16="http://schemas.microsoft.com/office/drawing/2014/main" id="{4A202D33-E8EC-40FE-B408-4990DBBB67C3}"/>
              </a:ext>
            </a:extLst>
          </p:cNvPr>
          <p:cNvSpPr>
            <a:spLocks noGrp="1"/>
          </p:cNvSpPr>
          <p:nvPr>
            <p:ph idx="1"/>
          </p:nvPr>
        </p:nvSpPr>
        <p:spPr/>
        <p:txBody>
          <a:bodyPr/>
          <a:lstStyle/>
          <a:p>
            <a:r>
              <a:rPr lang="de-CH" dirty="0">
                <a:effectLst/>
                <a:latin typeface="Century Gothic (Überschriften)"/>
              </a:rPr>
              <a:t>Private </a:t>
            </a:r>
            <a:r>
              <a:rPr lang="de-CH" dirty="0" err="1">
                <a:effectLst/>
                <a:latin typeface="Century Gothic (Überschriften)"/>
              </a:rPr>
              <a:t>cloud</a:t>
            </a:r>
            <a:endParaRPr lang="en-US" dirty="0">
              <a:effectLst/>
              <a:latin typeface="Century Gothic (Überschriften)"/>
            </a:endParaRPr>
          </a:p>
          <a:p>
            <a:r>
              <a:rPr lang="de-CH" dirty="0">
                <a:effectLst/>
                <a:latin typeface="Century Gothic (Überschriften)"/>
              </a:rPr>
              <a:t>Community </a:t>
            </a:r>
            <a:r>
              <a:rPr lang="de-CH" dirty="0" err="1">
                <a:effectLst/>
                <a:latin typeface="Century Gothic (Überschriften)"/>
              </a:rPr>
              <a:t>cloud</a:t>
            </a:r>
            <a:endParaRPr lang="de-CH" dirty="0">
              <a:latin typeface="Century Gothic (Überschriften)"/>
            </a:endParaRPr>
          </a:p>
          <a:p>
            <a:r>
              <a:rPr lang="de-CH" dirty="0">
                <a:effectLst/>
                <a:latin typeface="Century Gothic (Überschriften)"/>
              </a:rPr>
              <a:t>Public </a:t>
            </a:r>
            <a:r>
              <a:rPr lang="de-CH" dirty="0" err="1">
                <a:effectLst/>
                <a:latin typeface="Century Gothic (Überschriften)"/>
              </a:rPr>
              <a:t>cloud</a:t>
            </a:r>
            <a:endParaRPr lang="de-CH" dirty="0">
              <a:effectLst/>
              <a:latin typeface="Century Gothic (Überschriften)"/>
            </a:endParaRPr>
          </a:p>
          <a:p>
            <a:r>
              <a:rPr lang="de-CH" dirty="0">
                <a:effectLst/>
                <a:latin typeface="Century Gothic (Überschriften)"/>
              </a:rPr>
              <a:t>Hybrid </a:t>
            </a:r>
            <a:r>
              <a:rPr lang="de-CH" dirty="0" err="1">
                <a:effectLst/>
                <a:latin typeface="Century Gothic (Überschriften)"/>
              </a:rPr>
              <a:t>cloud</a:t>
            </a:r>
            <a:endParaRPr lang="de-CH" dirty="0">
              <a:latin typeface="Century Gothic (Überschriften)"/>
            </a:endParaRPr>
          </a:p>
          <a:p>
            <a:pPr marL="0" indent="0">
              <a:buNone/>
            </a:pPr>
            <a:endParaRPr lang="de-CH" dirty="0">
              <a:latin typeface="Century Gothic (Überschriften)"/>
            </a:endParaRPr>
          </a:p>
          <a:p>
            <a:pPr marL="0" indent="0">
              <a:buNone/>
            </a:pPr>
            <a:r>
              <a:rPr lang="de-CH" dirty="0">
                <a:latin typeface="Century Gothic (Überschriften)"/>
              </a:rPr>
              <a:t>(kennen keine)</a:t>
            </a:r>
          </a:p>
        </p:txBody>
      </p:sp>
    </p:spTree>
    <p:extLst>
      <p:ext uri="{BB962C8B-B14F-4D97-AF65-F5344CB8AC3E}">
        <p14:creationId xmlns:p14="http://schemas.microsoft.com/office/powerpoint/2010/main" val="3573837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98BEAB-2FBE-4E4C-94DC-FF3382836346}"/>
              </a:ext>
            </a:extLst>
          </p:cNvPr>
          <p:cNvSpPr>
            <a:spLocks noGrp="1"/>
          </p:cNvSpPr>
          <p:nvPr>
            <p:ph type="title"/>
          </p:nvPr>
        </p:nvSpPr>
        <p:spPr/>
        <p:txBody>
          <a:bodyPr/>
          <a:lstStyle/>
          <a:p>
            <a:r>
              <a:rPr lang="en-US" dirty="0"/>
              <a:t>Was </a:t>
            </a:r>
            <a:r>
              <a:rPr lang="en-US" dirty="0" err="1"/>
              <a:t>sind</a:t>
            </a:r>
            <a:r>
              <a:rPr lang="en-US" dirty="0"/>
              <a:t> Cloud Service </a:t>
            </a:r>
            <a:r>
              <a:rPr lang="en-US" dirty="0" err="1"/>
              <a:t>Modelle</a:t>
            </a:r>
            <a:r>
              <a:rPr lang="en-US" dirty="0"/>
              <a:t>?</a:t>
            </a:r>
            <a:endParaRPr lang="de-CH" dirty="0"/>
          </a:p>
        </p:txBody>
      </p:sp>
      <p:sp>
        <p:nvSpPr>
          <p:cNvPr id="3" name="Inhaltsplatzhalter 2">
            <a:extLst>
              <a:ext uri="{FF2B5EF4-FFF2-40B4-BE49-F238E27FC236}">
                <a16:creationId xmlns:a16="http://schemas.microsoft.com/office/drawing/2014/main" id="{D02F6165-6E09-4A00-9DF4-395359DF1C28}"/>
              </a:ext>
            </a:extLst>
          </p:cNvPr>
          <p:cNvSpPr>
            <a:spLocks noGrp="1"/>
          </p:cNvSpPr>
          <p:nvPr>
            <p:ph idx="1"/>
          </p:nvPr>
        </p:nvSpPr>
        <p:spPr/>
        <p:txBody>
          <a:bodyPr/>
          <a:lstStyle/>
          <a:p>
            <a:r>
              <a:rPr lang="en-US" dirty="0"/>
              <a:t>Software as a Service (SaaS)</a:t>
            </a:r>
          </a:p>
          <a:p>
            <a:r>
              <a:rPr lang="de-CH" dirty="0" err="1"/>
              <a:t>Platform</a:t>
            </a:r>
            <a:r>
              <a:rPr lang="de-CH" dirty="0"/>
              <a:t> </a:t>
            </a:r>
            <a:r>
              <a:rPr lang="de-CH" dirty="0" err="1"/>
              <a:t>as</a:t>
            </a:r>
            <a:r>
              <a:rPr lang="de-CH" dirty="0"/>
              <a:t> a Service (PaaS)</a:t>
            </a:r>
          </a:p>
          <a:p>
            <a:r>
              <a:rPr lang="de-CH" dirty="0"/>
              <a:t>Infrastructure </a:t>
            </a:r>
            <a:r>
              <a:rPr lang="de-CH" dirty="0" err="1"/>
              <a:t>as</a:t>
            </a:r>
            <a:r>
              <a:rPr lang="de-CH" dirty="0"/>
              <a:t> a Service (IaaS)</a:t>
            </a:r>
          </a:p>
        </p:txBody>
      </p:sp>
    </p:spTree>
    <p:extLst>
      <p:ext uri="{BB962C8B-B14F-4D97-AF65-F5344CB8AC3E}">
        <p14:creationId xmlns:p14="http://schemas.microsoft.com/office/powerpoint/2010/main" val="420302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EEDB0F-AFAE-4C76-8ABC-8326ED14387C}"/>
              </a:ext>
            </a:extLst>
          </p:cNvPr>
          <p:cNvSpPr>
            <a:spLocks noGrp="1"/>
          </p:cNvSpPr>
          <p:nvPr>
            <p:ph type="title"/>
          </p:nvPr>
        </p:nvSpPr>
        <p:spPr/>
        <p:txBody>
          <a:bodyPr/>
          <a:lstStyle/>
          <a:p>
            <a:r>
              <a:rPr lang="de-CH" dirty="0"/>
              <a:t>Weshalb soll ich Dienste aus der Cloud beziehen? Was sind die Vorteile?</a:t>
            </a:r>
          </a:p>
        </p:txBody>
      </p:sp>
      <p:sp>
        <p:nvSpPr>
          <p:cNvPr id="3" name="Inhaltsplatzhalter 2">
            <a:extLst>
              <a:ext uri="{FF2B5EF4-FFF2-40B4-BE49-F238E27FC236}">
                <a16:creationId xmlns:a16="http://schemas.microsoft.com/office/drawing/2014/main" id="{BDF64558-C7B2-4E0E-BAE5-9E1431992906}"/>
              </a:ext>
            </a:extLst>
          </p:cNvPr>
          <p:cNvSpPr>
            <a:spLocks noGrp="1"/>
          </p:cNvSpPr>
          <p:nvPr>
            <p:ph idx="1"/>
          </p:nvPr>
        </p:nvSpPr>
        <p:spPr>
          <a:xfrm>
            <a:off x="1104293" y="2455589"/>
            <a:ext cx="8946541" cy="4195481"/>
          </a:xfrm>
        </p:spPr>
        <p:txBody>
          <a:bodyPr/>
          <a:lstStyle/>
          <a:p>
            <a:r>
              <a:rPr lang="de-CH" dirty="0"/>
              <a:t>Flexibel</a:t>
            </a:r>
          </a:p>
          <a:p>
            <a:r>
              <a:rPr lang="de-CH" dirty="0"/>
              <a:t>Redundante Hardware</a:t>
            </a:r>
          </a:p>
          <a:p>
            <a:r>
              <a:rPr lang="de-CH" dirty="0"/>
              <a:t>Verfügbarkeit</a:t>
            </a:r>
          </a:p>
          <a:p>
            <a:r>
              <a:rPr lang="de-CH" dirty="0"/>
              <a:t>Kosteneffizient</a:t>
            </a:r>
          </a:p>
        </p:txBody>
      </p:sp>
    </p:spTree>
    <p:extLst>
      <p:ext uri="{BB962C8B-B14F-4D97-AF65-F5344CB8AC3E}">
        <p14:creationId xmlns:p14="http://schemas.microsoft.com/office/powerpoint/2010/main" val="2050311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3A47A0-6633-4C6B-8363-8B8953529DFA}"/>
              </a:ext>
            </a:extLst>
          </p:cNvPr>
          <p:cNvSpPr>
            <a:spLocks noGrp="1"/>
          </p:cNvSpPr>
          <p:nvPr>
            <p:ph type="title"/>
          </p:nvPr>
        </p:nvSpPr>
        <p:spPr/>
        <p:txBody>
          <a:bodyPr/>
          <a:lstStyle/>
          <a:p>
            <a:r>
              <a:rPr lang="de-CH" dirty="0">
                <a:effectLst/>
              </a:rPr>
              <a:t>Was sind die Nachteile?</a:t>
            </a:r>
            <a:endParaRPr lang="de-CH" dirty="0"/>
          </a:p>
        </p:txBody>
      </p:sp>
      <p:sp>
        <p:nvSpPr>
          <p:cNvPr id="3" name="Inhaltsplatzhalter 2">
            <a:extLst>
              <a:ext uri="{FF2B5EF4-FFF2-40B4-BE49-F238E27FC236}">
                <a16:creationId xmlns:a16="http://schemas.microsoft.com/office/drawing/2014/main" id="{25755711-38B9-4565-9813-BC2553F4738E}"/>
              </a:ext>
            </a:extLst>
          </p:cNvPr>
          <p:cNvSpPr>
            <a:spLocks noGrp="1"/>
          </p:cNvSpPr>
          <p:nvPr>
            <p:ph idx="1"/>
          </p:nvPr>
        </p:nvSpPr>
        <p:spPr/>
        <p:txBody>
          <a:bodyPr/>
          <a:lstStyle/>
          <a:p>
            <a:r>
              <a:rPr lang="en-US" dirty="0" err="1"/>
              <a:t>Datenschutz</a:t>
            </a:r>
            <a:endParaRPr lang="en-US" dirty="0"/>
          </a:p>
          <a:p>
            <a:r>
              <a:rPr lang="en-US" dirty="0" err="1"/>
              <a:t>Vertraulichkeit</a:t>
            </a:r>
            <a:endParaRPr lang="en-US" dirty="0"/>
          </a:p>
        </p:txBody>
      </p:sp>
    </p:spTree>
    <p:extLst>
      <p:ext uri="{BB962C8B-B14F-4D97-AF65-F5344CB8AC3E}">
        <p14:creationId xmlns:p14="http://schemas.microsoft.com/office/powerpoint/2010/main" val="251634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1295A0-8AD5-4555-BC67-31AF18DB7FE5}"/>
              </a:ext>
            </a:extLst>
          </p:cNvPr>
          <p:cNvSpPr>
            <a:spLocks noGrp="1"/>
          </p:cNvSpPr>
          <p:nvPr>
            <p:ph type="title"/>
          </p:nvPr>
        </p:nvSpPr>
        <p:spPr/>
        <p:txBody>
          <a:bodyPr/>
          <a:lstStyle/>
          <a:p>
            <a:r>
              <a:rPr lang="de-CH" dirty="0"/>
              <a:t>Welche Dienstleistungen werden in Ihrem Betrieb On-</a:t>
            </a:r>
            <a:r>
              <a:rPr lang="de-CH" dirty="0" err="1"/>
              <a:t>Premise</a:t>
            </a:r>
            <a:r>
              <a:rPr lang="de-CH" dirty="0"/>
              <a:t> (eigenes Rechenzentrum) betrieben?</a:t>
            </a:r>
          </a:p>
        </p:txBody>
      </p:sp>
      <p:sp>
        <p:nvSpPr>
          <p:cNvPr id="3" name="Inhaltsplatzhalter 2">
            <a:extLst>
              <a:ext uri="{FF2B5EF4-FFF2-40B4-BE49-F238E27FC236}">
                <a16:creationId xmlns:a16="http://schemas.microsoft.com/office/drawing/2014/main" id="{750B450A-D7E6-4B9C-9EA9-C66E972CFCBE}"/>
              </a:ext>
            </a:extLst>
          </p:cNvPr>
          <p:cNvSpPr>
            <a:spLocks noGrp="1"/>
          </p:cNvSpPr>
          <p:nvPr>
            <p:ph idx="1"/>
          </p:nvPr>
        </p:nvSpPr>
        <p:spPr>
          <a:xfrm>
            <a:off x="1104293" y="2405255"/>
            <a:ext cx="8946541" cy="4195481"/>
          </a:xfrm>
        </p:spPr>
        <p:txBody>
          <a:bodyPr/>
          <a:lstStyle/>
          <a:p>
            <a:r>
              <a:rPr lang="en-US" dirty="0"/>
              <a:t>Moodle</a:t>
            </a:r>
          </a:p>
          <a:p>
            <a:r>
              <a:rPr lang="en-US" dirty="0"/>
              <a:t>Zeus</a:t>
            </a:r>
          </a:p>
          <a:p>
            <a:r>
              <a:rPr lang="en-US" dirty="0"/>
              <a:t>Kanban</a:t>
            </a:r>
          </a:p>
          <a:p>
            <a:r>
              <a:rPr lang="en-US" dirty="0"/>
              <a:t>FTP Server </a:t>
            </a:r>
            <a:r>
              <a:rPr lang="en-US" dirty="0" err="1"/>
              <a:t>für</a:t>
            </a:r>
            <a:r>
              <a:rPr lang="en-US" dirty="0"/>
              <a:t> </a:t>
            </a:r>
            <a:r>
              <a:rPr lang="en-US" dirty="0" err="1"/>
              <a:t>Wochenberichte</a:t>
            </a:r>
            <a:endParaRPr lang="en-US" dirty="0"/>
          </a:p>
          <a:p>
            <a:endParaRPr lang="en-US" dirty="0"/>
          </a:p>
          <a:p>
            <a:endParaRPr lang="de-CH" dirty="0"/>
          </a:p>
        </p:txBody>
      </p:sp>
    </p:spTree>
    <p:extLst>
      <p:ext uri="{BB962C8B-B14F-4D97-AF65-F5344CB8AC3E}">
        <p14:creationId xmlns:p14="http://schemas.microsoft.com/office/powerpoint/2010/main" val="166183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F2FF3E-E7DA-421B-B71C-BC24B036CE9C}"/>
              </a:ext>
            </a:extLst>
          </p:cNvPr>
          <p:cNvSpPr>
            <a:spLocks noGrp="1"/>
          </p:cNvSpPr>
          <p:nvPr>
            <p:ph type="title"/>
          </p:nvPr>
        </p:nvSpPr>
        <p:spPr/>
        <p:txBody>
          <a:bodyPr/>
          <a:lstStyle/>
          <a:p>
            <a:r>
              <a:rPr lang="de-CH" dirty="0"/>
              <a:t>Wie werden technologische Beiträge in der Cloud geteilt bzw. zur Verfügung gestellt?</a:t>
            </a:r>
          </a:p>
        </p:txBody>
      </p:sp>
      <p:sp>
        <p:nvSpPr>
          <p:cNvPr id="3" name="Inhaltsplatzhalter 2">
            <a:extLst>
              <a:ext uri="{FF2B5EF4-FFF2-40B4-BE49-F238E27FC236}">
                <a16:creationId xmlns:a16="http://schemas.microsoft.com/office/drawing/2014/main" id="{6ABCD091-B389-44E1-8F47-275817552FEE}"/>
              </a:ext>
            </a:extLst>
          </p:cNvPr>
          <p:cNvSpPr>
            <a:spLocks noGrp="1"/>
          </p:cNvSpPr>
          <p:nvPr>
            <p:ph idx="1"/>
          </p:nvPr>
        </p:nvSpPr>
        <p:spPr>
          <a:xfrm>
            <a:off x="1104293" y="2430422"/>
            <a:ext cx="8946541" cy="4195481"/>
          </a:xfrm>
        </p:spPr>
        <p:txBody>
          <a:bodyPr/>
          <a:lstStyle/>
          <a:p>
            <a:r>
              <a:rPr lang="en-US" dirty="0"/>
              <a:t>GIT</a:t>
            </a:r>
          </a:p>
          <a:p>
            <a:endParaRPr lang="de-CH" dirty="0"/>
          </a:p>
        </p:txBody>
      </p:sp>
    </p:spTree>
    <p:extLst>
      <p:ext uri="{BB962C8B-B14F-4D97-AF65-F5344CB8AC3E}">
        <p14:creationId xmlns:p14="http://schemas.microsoft.com/office/powerpoint/2010/main" val="22400197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0</TotalTime>
  <Words>265</Words>
  <Application>Microsoft Office PowerPoint</Application>
  <PresentationFormat>Breitbild</PresentationFormat>
  <Paragraphs>52</Paragraphs>
  <Slides>12</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Arial</vt:lpstr>
      <vt:lpstr>Century Gothic</vt:lpstr>
      <vt:lpstr>Century Gothic (Überschriften)</vt:lpstr>
      <vt:lpstr>Wingdings 3</vt:lpstr>
      <vt:lpstr>Ion</vt:lpstr>
      <vt:lpstr>Grundlagen  Cloud-Computing</vt:lpstr>
      <vt:lpstr>Wie ist der Begriff Cloud entstanden? Wieso heisst es Cloud?</vt:lpstr>
      <vt:lpstr>Wie wird der Begriff Cloud definiert, z.B. gemäss NIST?</vt:lpstr>
      <vt:lpstr>Welches sind die 5 Merkmale einer Cloud?</vt:lpstr>
      <vt:lpstr>Welche Cloud Dienstleistungen kennen Sie?</vt:lpstr>
      <vt:lpstr>Welche Cloud Anbieter kennen Sie?</vt:lpstr>
      <vt:lpstr>Welche Cloud Deployment Modelle kennen Sie?</vt:lpstr>
      <vt:lpstr>Was sind Cloud Service Modelle?</vt:lpstr>
      <vt:lpstr>Weshalb soll ich Dienste aus der Cloud beziehen? Was sind die Vorteile?</vt:lpstr>
      <vt:lpstr>Was sind die Nachteile?</vt:lpstr>
      <vt:lpstr>Welche Dienstleistungen werden in Ihrem Betrieb On-Premise (eigenes Rechenzentrum) betrieben?</vt:lpstr>
      <vt:lpstr>Wie werden technologische Beiträge in der Cloud geteilt bzw. zur Verfügung gestellt?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Grundlagen Cloud-Computing</dc:title>
  <dc:creator>Arlind Sulejmani</dc:creator>
  <cp:lastModifiedBy>Arlind Sulejmani</cp:lastModifiedBy>
  <cp:revision>4</cp:revision>
  <dcterms:created xsi:type="dcterms:W3CDTF">2023-05-17T08:10:49Z</dcterms:created>
  <dcterms:modified xsi:type="dcterms:W3CDTF">2023-05-17T08:34:32Z</dcterms:modified>
</cp:coreProperties>
</file>